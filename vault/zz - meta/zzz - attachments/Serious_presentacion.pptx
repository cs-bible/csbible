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8" r:id="rId3"/>
    <p:sldId id="259" r:id="rId4"/>
    <p:sldId id="286" r:id="rId5"/>
    <p:sldId id="287" r:id="rId6"/>
    <p:sldId id="288" r:id="rId7"/>
    <p:sldId id="260" r:id="rId8"/>
    <p:sldId id="261" r:id="rId9"/>
    <p:sldId id="265" r:id="rId10"/>
    <p:sldId id="267" r:id="rId11"/>
    <p:sldId id="289" r:id="rId12"/>
  </p:sldIdLst>
  <p:sldSz cx="9144000" cy="5143500" type="screen16x9"/>
  <p:notesSz cx="6858000" cy="9144000"/>
  <p:embeddedFontLst>
    <p:embeddedFont>
      <p:font typeface="Cossette Texte" panose="020B0604020202020204" charset="0"/>
      <p:regular r:id="rId14"/>
      <p:bold r:id="rId15"/>
    </p:embeddedFont>
    <p:embeddedFont>
      <p:font typeface="Inter Tight" panose="020B0604020202020204" charset="0"/>
      <p:regular r:id="rId16"/>
      <p:bold r:id="rId17"/>
      <p:italic r:id="rId18"/>
      <p:boldItalic r:id="rId19"/>
    </p:embeddedFont>
    <p:embeddedFont>
      <p:font typeface="Inter Tight SemiBold" panose="020B0604020202020204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  <p:italic r:id="rId25"/>
    </p:embeddedFont>
    <p:embeddedFont>
      <p:font typeface="Open Sans Light" panose="020B0306030504020204" pitchFamily="34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9D6803-E5FB-4F03-A302-D879BE3F3414}">
  <a:tblStyle styleId="{D19D6803-E5FB-4F03-A302-D879BE3F34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>
        <p:scale>
          <a:sx n="150" d="100"/>
          <a:sy n="150" d="100"/>
        </p:scale>
        <p:origin x="678" y="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5739c895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a5739c895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5739c895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a5739c895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a6e43c00d_1_2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a6e43c00d_1_2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0" cy="5143502"/>
            <a:chOff x="0" y="0"/>
            <a:chExt cx="9144000" cy="5143502"/>
          </a:xfrm>
        </p:grpSpPr>
        <p:pic>
          <p:nvPicPr>
            <p:cNvPr id="10" name="Google Shape;10;p2" title="fondo-01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fondo-01.png"/>
            <p:cNvPicPr preferRelativeResize="0"/>
            <p:nvPr/>
          </p:nvPicPr>
          <p:blipFill rotWithShape="1">
            <a:blip r:embed="rId3">
              <a:alphaModFix amt="90000"/>
            </a:blip>
            <a:srcRect t="50708" b="16020"/>
            <a:stretch/>
          </p:blipFill>
          <p:spPr>
            <a:xfrm>
              <a:off x="0" y="3432150"/>
              <a:ext cx="9144000" cy="1711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" y="188068"/>
            <a:ext cx="4198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640550" y="188068"/>
            <a:ext cx="15192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0" y="0"/>
            <a:ext cx="9144000" cy="5143502"/>
            <a:chOff x="0" y="0"/>
            <a:chExt cx="9144000" cy="5143502"/>
          </a:xfrm>
        </p:grpSpPr>
        <p:pic>
          <p:nvPicPr>
            <p:cNvPr id="16" name="Google Shape;16;p3" title="fondo-01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3" title="fondo-03.png"/>
            <p:cNvPicPr preferRelativeResize="0"/>
            <p:nvPr/>
          </p:nvPicPr>
          <p:blipFill rotWithShape="1">
            <a:blip r:embed="rId3">
              <a:alphaModFix/>
            </a:blip>
            <a:srcRect t="5294" b="53147"/>
            <a:stretch/>
          </p:blipFill>
          <p:spPr>
            <a:xfrm>
              <a:off x="0" y="0"/>
              <a:ext cx="9144000" cy="2137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28600" y="3454300"/>
            <a:ext cx="37197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4633700" y="282742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 title="fondo-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8600" y="208325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476150" y="1498500"/>
            <a:ext cx="74394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6"/>
          <p:cNvGrpSpPr/>
          <p:nvPr/>
        </p:nvGrpSpPr>
        <p:grpSpPr>
          <a:xfrm>
            <a:off x="0" y="0"/>
            <a:ext cx="9144000" cy="5143502"/>
            <a:chOff x="0" y="0"/>
            <a:chExt cx="9144000" cy="5143502"/>
          </a:xfrm>
        </p:grpSpPr>
        <p:pic>
          <p:nvPicPr>
            <p:cNvPr id="33" name="Google Shape;33;p6" title="fondo-01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6" title="fondo-4.png"/>
            <p:cNvPicPr preferRelativeResize="0"/>
            <p:nvPr/>
          </p:nvPicPr>
          <p:blipFill rotWithShape="1">
            <a:blip r:embed="rId3">
              <a:alphaModFix amt="90000"/>
            </a:blip>
            <a:srcRect b="35337"/>
            <a:stretch/>
          </p:blipFill>
          <p:spPr>
            <a:xfrm flipH="1">
              <a:off x="0" y="1817575"/>
              <a:ext cx="9144000" cy="3325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228600" y="3776472"/>
            <a:ext cx="8686800" cy="11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 title="fondo-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228600" y="2236425"/>
            <a:ext cx="37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5195775" y="1400175"/>
            <a:ext cx="3719700" cy="23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 title="fondo-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607000" cy="23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 title="fondo-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228600" y="4342200"/>
            <a:ext cx="37272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1"/>
          <p:cNvGrpSpPr/>
          <p:nvPr/>
        </p:nvGrpSpPr>
        <p:grpSpPr>
          <a:xfrm>
            <a:off x="0" y="0"/>
            <a:ext cx="9144000" cy="5143502"/>
            <a:chOff x="0" y="0"/>
            <a:chExt cx="9144000" cy="5143502"/>
          </a:xfrm>
        </p:grpSpPr>
        <p:pic>
          <p:nvPicPr>
            <p:cNvPr id="52" name="Google Shape;52;p11" title="fondo-01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1" title="fondo-5.png"/>
            <p:cNvPicPr preferRelativeResize="0"/>
            <p:nvPr/>
          </p:nvPicPr>
          <p:blipFill rotWithShape="1">
            <a:blip r:embed="rId3">
              <a:alphaModFix amt="90000"/>
            </a:blip>
            <a:srcRect l="10559" r="56077"/>
            <a:stretch/>
          </p:blipFill>
          <p:spPr>
            <a:xfrm>
              <a:off x="0" y="0"/>
              <a:ext cx="3050752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5195775" y="1400175"/>
            <a:ext cx="3719700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ubTitle" idx="1"/>
          </p:nvPr>
        </p:nvSpPr>
        <p:spPr>
          <a:xfrm>
            <a:off x="3955900" y="2557175"/>
            <a:ext cx="1619100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 title="fondo-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1431600" y="1436425"/>
            <a:ext cx="7483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228600" y="210300"/>
            <a:ext cx="8686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2"/>
          </p:nvPr>
        </p:nvSpPr>
        <p:spPr>
          <a:xfrm>
            <a:off x="1431600" y="1878494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1431600" y="2762631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4"/>
          </p:nvPr>
        </p:nvSpPr>
        <p:spPr>
          <a:xfrm>
            <a:off x="1431600" y="4088838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5"/>
          </p:nvPr>
        </p:nvSpPr>
        <p:spPr>
          <a:xfrm>
            <a:off x="1431600" y="3646769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1431600" y="2320563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7"/>
          </p:nvPr>
        </p:nvSpPr>
        <p:spPr>
          <a:xfrm>
            <a:off x="1431600" y="3204700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8" hasCustomPrompt="1"/>
          </p:nvPr>
        </p:nvSpPr>
        <p:spPr>
          <a:xfrm>
            <a:off x="228600" y="1436450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9" hasCustomPrompt="1"/>
          </p:nvPr>
        </p:nvSpPr>
        <p:spPr>
          <a:xfrm>
            <a:off x="228600" y="1878504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228600" y="2320557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4" hasCustomPrompt="1"/>
          </p:nvPr>
        </p:nvSpPr>
        <p:spPr>
          <a:xfrm>
            <a:off x="228600" y="2762611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5" hasCustomPrompt="1"/>
          </p:nvPr>
        </p:nvSpPr>
        <p:spPr>
          <a:xfrm>
            <a:off x="228600" y="3204665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6" hasCustomPrompt="1"/>
          </p:nvPr>
        </p:nvSpPr>
        <p:spPr>
          <a:xfrm>
            <a:off x="228600" y="3646719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7" hasCustomPrompt="1"/>
          </p:nvPr>
        </p:nvSpPr>
        <p:spPr>
          <a:xfrm>
            <a:off x="228600" y="4088772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8"/>
          </p:nvPr>
        </p:nvSpPr>
        <p:spPr>
          <a:xfrm>
            <a:off x="1431600" y="4530907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ter Tight SemiBold"/>
              <a:buNone/>
              <a:defRPr sz="28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9" hasCustomPrompt="1"/>
          </p:nvPr>
        </p:nvSpPr>
        <p:spPr>
          <a:xfrm>
            <a:off x="228600" y="4530826"/>
            <a:ext cx="7278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9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4"/>
          <p:cNvGrpSpPr/>
          <p:nvPr/>
        </p:nvGrpSpPr>
        <p:grpSpPr>
          <a:xfrm>
            <a:off x="0" y="0"/>
            <a:ext cx="9144002" cy="5143502"/>
            <a:chOff x="0" y="0"/>
            <a:chExt cx="9144002" cy="5143502"/>
          </a:xfrm>
        </p:grpSpPr>
        <p:pic>
          <p:nvPicPr>
            <p:cNvPr id="78" name="Google Shape;78;p14" title="fondo-01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4" title="fondo-02.png"/>
            <p:cNvPicPr preferRelativeResize="0"/>
            <p:nvPr/>
          </p:nvPicPr>
          <p:blipFill rotWithShape="1">
            <a:blip r:embed="rId3">
              <a:alphaModFix amt="90000"/>
            </a:blip>
            <a:srcRect l="69713" r="7853"/>
            <a:stretch/>
          </p:blipFill>
          <p:spPr>
            <a:xfrm>
              <a:off x="7092726" y="0"/>
              <a:ext cx="2051276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228600" y="3773736"/>
            <a:ext cx="3719700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228600" y="262875"/>
            <a:ext cx="6800100" cy="22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 title="fondo-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28600" y="3776472"/>
            <a:ext cx="3719700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4572000" y="2580409"/>
            <a:ext cx="4343400" cy="234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>
            <a:spLocks noGrp="1"/>
          </p:cNvSpPr>
          <p:nvPr>
            <p:ph type="pic" idx="2"/>
          </p:nvPr>
        </p:nvSpPr>
        <p:spPr>
          <a:xfrm>
            <a:off x="1476150" y="342900"/>
            <a:ext cx="1856100" cy="2757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21"/>
          <p:cNvGrpSpPr/>
          <p:nvPr/>
        </p:nvGrpSpPr>
        <p:grpSpPr>
          <a:xfrm>
            <a:off x="0" y="0"/>
            <a:ext cx="9144000" cy="5143502"/>
            <a:chOff x="0" y="0"/>
            <a:chExt cx="9144000" cy="5143502"/>
          </a:xfrm>
        </p:grpSpPr>
        <p:pic>
          <p:nvPicPr>
            <p:cNvPr id="128" name="Google Shape;128;p21" title="fondo-01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1" title="fondo-5.png"/>
            <p:cNvPicPr preferRelativeResize="0"/>
            <p:nvPr/>
          </p:nvPicPr>
          <p:blipFill rotWithShape="1">
            <a:blip r:embed="rId3">
              <a:alphaModFix amt="90000"/>
            </a:blip>
            <a:srcRect r="51342"/>
            <a:stretch/>
          </p:blipFill>
          <p:spPr>
            <a:xfrm flipH="1">
              <a:off x="3456475" y="0"/>
              <a:ext cx="4449300" cy="5143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2"/>
          <p:cNvGrpSpPr/>
          <p:nvPr/>
        </p:nvGrpSpPr>
        <p:grpSpPr>
          <a:xfrm>
            <a:off x="0" y="0"/>
            <a:ext cx="9144000" cy="5143502"/>
            <a:chOff x="0" y="0"/>
            <a:chExt cx="9144000" cy="5143502"/>
          </a:xfrm>
        </p:grpSpPr>
        <p:pic>
          <p:nvPicPr>
            <p:cNvPr id="132" name="Google Shape;132;p22" title="fondo-01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0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2" title="fondo-01.png"/>
            <p:cNvPicPr preferRelativeResize="0"/>
            <p:nvPr/>
          </p:nvPicPr>
          <p:blipFill rotWithShape="1">
            <a:blip r:embed="rId3">
              <a:alphaModFix amt="90000"/>
            </a:blip>
            <a:srcRect t="41667"/>
            <a:stretch/>
          </p:blipFill>
          <p:spPr>
            <a:xfrm rot="10800000" flipH="1">
              <a:off x="0" y="802825"/>
              <a:ext cx="9144000" cy="3000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208325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ssette Texte"/>
              <a:buNone/>
              <a:defRPr sz="180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8600" y="9360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7" r:id="rId13"/>
    <p:sldLayoutId id="214748366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ogales.es/seriousgames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Serious-Games-V-UFV/SERIOUS-GAMES-V-UFV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/>
        </p:nvSpPr>
        <p:spPr>
          <a:xfrm>
            <a:off x="7500000" y="305450"/>
            <a:ext cx="1301100" cy="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27 / 01 / 2026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228600" y="188068"/>
            <a:ext cx="4198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Serious Games /</a:t>
            </a:r>
            <a:br>
              <a:rPr lang="es-ES" dirty="0"/>
            </a:br>
            <a:r>
              <a:rPr lang="es-ES" dirty="0"/>
              <a:t>Informática</a:t>
            </a:r>
            <a:endParaRPr dirty="0"/>
          </a:p>
        </p:txBody>
      </p:sp>
      <p:cxnSp>
        <p:nvCxnSpPr>
          <p:cNvPr id="152" name="Google Shape;152;p27"/>
          <p:cNvCxnSpPr/>
          <p:nvPr/>
        </p:nvCxnSpPr>
        <p:spPr>
          <a:xfrm rot="10800000">
            <a:off x="4572000" y="-148498"/>
            <a:ext cx="0" cy="3911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oval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subTitle" idx="1"/>
          </p:nvPr>
        </p:nvSpPr>
        <p:spPr>
          <a:xfrm>
            <a:off x="1431600" y="1842061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 HEMOS HECHO</a:t>
            </a:r>
            <a:endParaRPr dirty="0"/>
          </a:p>
        </p:txBody>
      </p:sp>
      <p:sp>
        <p:nvSpPr>
          <p:cNvPr id="199" name="Google Shape;199;p29"/>
          <p:cNvSpPr txBox="1">
            <a:spLocks noGrp="1"/>
          </p:cNvSpPr>
          <p:nvPr>
            <p:ph type="subTitle" idx="2"/>
          </p:nvPr>
        </p:nvSpPr>
        <p:spPr>
          <a:xfrm>
            <a:off x="1431600" y="2284130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 VAMOS A HACER</a:t>
            </a:r>
            <a:endParaRPr dirty="0"/>
          </a:p>
        </p:txBody>
      </p:sp>
      <p:sp>
        <p:nvSpPr>
          <p:cNvPr id="200" name="Google Shape;200;p29"/>
          <p:cNvSpPr txBox="1">
            <a:spLocks noGrp="1"/>
          </p:cNvSpPr>
          <p:nvPr>
            <p:ph type="subTitle" idx="3"/>
          </p:nvPr>
        </p:nvSpPr>
        <p:spPr>
          <a:xfrm>
            <a:off x="1431600" y="2726178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PLAZOS</a:t>
            </a:r>
            <a:endParaRPr dirty="0"/>
          </a:p>
        </p:txBody>
      </p:sp>
      <p:sp>
        <p:nvSpPr>
          <p:cNvPr id="203" name="Google Shape;203;p29"/>
          <p:cNvSpPr txBox="1">
            <a:spLocks noGrp="1"/>
          </p:cNvSpPr>
          <p:nvPr>
            <p:ph type="subTitle" idx="7"/>
          </p:nvPr>
        </p:nvSpPr>
        <p:spPr>
          <a:xfrm>
            <a:off x="1431600" y="3168247"/>
            <a:ext cx="7483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SUGERENCIAS</a:t>
            </a:r>
            <a:endParaRPr dirty="0"/>
          </a:p>
        </p:txBody>
      </p:sp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228600" y="210300"/>
            <a:ext cx="8686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CONTENTS/</a:t>
            </a:r>
            <a:endParaRPr/>
          </a:p>
        </p:txBody>
      </p:sp>
      <p:sp>
        <p:nvSpPr>
          <p:cNvPr id="206" name="Google Shape;206;p29"/>
          <p:cNvSpPr txBox="1">
            <a:spLocks noGrp="1"/>
          </p:cNvSpPr>
          <p:nvPr>
            <p:ph type="title" idx="8"/>
          </p:nvPr>
        </p:nvSpPr>
        <p:spPr>
          <a:xfrm>
            <a:off x="228600" y="1842086"/>
            <a:ext cx="727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{01}</a:t>
            </a:r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title" idx="9"/>
          </p:nvPr>
        </p:nvSpPr>
        <p:spPr>
          <a:xfrm>
            <a:off x="228600" y="2284140"/>
            <a:ext cx="727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{02}</a:t>
            </a:r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title" idx="13"/>
          </p:nvPr>
        </p:nvSpPr>
        <p:spPr>
          <a:xfrm>
            <a:off x="228600" y="2726193"/>
            <a:ext cx="727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{03}</a:t>
            </a:r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title" idx="14"/>
          </p:nvPr>
        </p:nvSpPr>
        <p:spPr>
          <a:xfrm>
            <a:off x="228600" y="3168247"/>
            <a:ext cx="7278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{04}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>
            <a:spLocks noGrp="1"/>
          </p:cNvSpPr>
          <p:nvPr>
            <p:ph type="title"/>
          </p:nvPr>
        </p:nvSpPr>
        <p:spPr>
          <a:xfrm>
            <a:off x="228600" y="3773736"/>
            <a:ext cx="3719700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QUE HEMOS</a:t>
            </a:r>
            <a:br>
              <a:rPr lang="es-ES" dirty="0"/>
            </a:br>
            <a:r>
              <a:rPr lang="es-ES" dirty="0"/>
              <a:t>HECHO/</a:t>
            </a:r>
            <a:endParaRPr dirty="0"/>
          </a:p>
        </p:txBody>
      </p:sp>
      <p:sp>
        <p:nvSpPr>
          <p:cNvPr id="220" name="Google Shape;220;p30"/>
          <p:cNvSpPr txBox="1">
            <a:spLocks noGrp="1"/>
          </p:cNvSpPr>
          <p:nvPr>
            <p:ph type="subTitle" idx="1"/>
          </p:nvPr>
        </p:nvSpPr>
        <p:spPr>
          <a:xfrm>
            <a:off x="228600" y="262875"/>
            <a:ext cx="6800100" cy="22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21" name="Google Shape;221;p30"/>
          <p:cNvCxnSpPr/>
          <p:nvPr/>
        </p:nvCxnSpPr>
        <p:spPr>
          <a:xfrm rot="10800000">
            <a:off x="313211" y="4914927"/>
            <a:ext cx="785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oval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15F8A-4462-10C5-F7EF-9B3B0908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Actualmente hemos hecho los siguientes avances</a:t>
            </a:r>
          </a:p>
        </p:txBody>
      </p:sp>
      <p:pic>
        <p:nvPicPr>
          <p:cNvPr id="3" name="Imagen 2" descr="Código QR&#10;&#10;El contenido generado por IA puede ser incorrecto.">
            <a:extLst>
              <a:ext uri="{FF2B5EF4-FFF2-40B4-BE49-F238E27FC236}">
                <a16:creationId xmlns:a16="http://schemas.microsoft.com/office/drawing/2014/main" id="{55E375E6-E981-141F-B890-95462E0A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637" y="1970387"/>
            <a:ext cx="1348393" cy="134839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104CFF9-6E42-D8D3-9EC6-8301F4D16EB8}"/>
              </a:ext>
            </a:extLst>
          </p:cNvPr>
          <p:cNvSpPr txBox="1"/>
          <p:nvPr/>
        </p:nvSpPr>
        <p:spPr>
          <a:xfrm>
            <a:off x="2067670" y="3318780"/>
            <a:ext cx="16483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Documento proyecto extendido</a:t>
            </a:r>
          </a:p>
        </p:txBody>
      </p:sp>
      <p:pic>
        <p:nvPicPr>
          <p:cNvPr id="6" name="Imagen 5" descr="Código QR&#10;&#10;El contenido generado por IA puede ser incorrecto.">
            <a:extLst>
              <a:ext uri="{FF2B5EF4-FFF2-40B4-BE49-F238E27FC236}">
                <a16:creationId xmlns:a16="http://schemas.microsoft.com/office/drawing/2014/main" id="{3E163CFE-F887-6D13-4831-E3DA00821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033" y="1970386"/>
            <a:ext cx="1348393" cy="13483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FCF1C96-6862-C513-D6AD-47C3E0F9761D}"/>
              </a:ext>
            </a:extLst>
          </p:cNvPr>
          <p:cNvSpPr txBox="1"/>
          <p:nvPr/>
        </p:nvSpPr>
        <p:spPr>
          <a:xfrm>
            <a:off x="5533077" y="3318780"/>
            <a:ext cx="1648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Documentos técnicos</a:t>
            </a:r>
          </a:p>
        </p:txBody>
      </p:sp>
    </p:spTree>
    <p:extLst>
      <p:ext uri="{BB962C8B-B14F-4D97-AF65-F5344CB8AC3E}">
        <p14:creationId xmlns:p14="http://schemas.microsoft.com/office/powerpoint/2010/main" val="117252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B3AE1-5C41-133A-0836-3C912A0D2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6784" y="1658914"/>
            <a:ext cx="8686800" cy="1170300"/>
          </a:xfrm>
        </p:spPr>
        <p:txBody>
          <a:bodyPr/>
          <a:lstStyle/>
          <a:p>
            <a:r>
              <a:rPr lang="es-ES" dirty="0">
                <a:hlinkClick r:id="rId2"/>
              </a:rPr>
              <a:t>https://www.anogales.es/seriousgames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259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7480B50-D9BC-D2B7-70F2-82BBB3EF6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799" y="0"/>
            <a:ext cx="42504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18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xfrm>
            <a:off x="228600" y="3454300"/>
            <a:ext cx="37197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 VAMOS </a:t>
            </a:r>
            <a:br>
              <a:rPr lang="en" dirty="0"/>
            </a:br>
            <a:r>
              <a:rPr lang="en" dirty="0"/>
              <a:t>A HACER/</a:t>
            </a:r>
            <a:endParaRPr dirty="0"/>
          </a:p>
        </p:txBody>
      </p:sp>
      <p:sp>
        <p:nvSpPr>
          <p:cNvPr id="227" name="Google Shape;227;p31"/>
          <p:cNvSpPr txBox="1">
            <a:spLocks noGrp="1"/>
          </p:cNvSpPr>
          <p:nvPr>
            <p:ph type="title" idx="2"/>
          </p:nvPr>
        </p:nvSpPr>
        <p:spPr>
          <a:xfrm>
            <a:off x="4633700" y="282742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28" name="Google Shape;228;p31"/>
          <p:cNvCxnSpPr/>
          <p:nvPr/>
        </p:nvCxnSpPr>
        <p:spPr>
          <a:xfrm>
            <a:off x="4572000" y="1921792"/>
            <a:ext cx="0" cy="325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oval" w="med" len="med"/>
            <a:tailEnd type="none" w="med" len="med"/>
          </a:ln>
        </p:spPr>
      </p:cxnSp>
      <p:sp>
        <p:nvSpPr>
          <p:cNvPr id="229" name="Google Shape;229;p31"/>
          <p:cNvSpPr txBox="1"/>
          <p:nvPr/>
        </p:nvSpPr>
        <p:spPr>
          <a:xfrm>
            <a:off x="7564775" y="4679459"/>
            <a:ext cx="1236300" cy="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PURPOSE FORWARD	</a:t>
            </a:r>
            <a:endParaRPr sz="9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title"/>
          </p:nvPr>
        </p:nvSpPr>
        <p:spPr>
          <a:xfrm>
            <a:off x="228600" y="3776472"/>
            <a:ext cx="3719700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Implementaciones</a:t>
            </a:r>
            <a:br>
              <a:rPr lang="en" dirty="0"/>
            </a:br>
            <a:r>
              <a:rPr lang="en" dirty="0"/>
              <a:t>principales/</a:t>
            </a:r>
            <a:endParaRPr dirty="0"/>
          </a:p>
        </p:txBody>
      </p:sp>
      <p:sp>
        <p:nvSpPr>
          <p:cNvPr id="235" name="Google Shape;235;p32"/>
          <p:cNvSpPr txBox="1">
            <a:spLocks noGrp="1"/>
          </p:cNvSpPr>
          <p:nvPr>
            <p:ph type="subTitle" idx="1"/>
          </p:nvPr>
        </p:nvSpPr>
        <p:spPr>
          <a:xfrm>
            <a:off x="4475747" y="-293419"/>
            <a:ext cx="4343400" cy="234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Queremos diseñar una app funcional</a:t>
            </a:r>
          </a:p>
          <a:p>
            <a:pPr marL="0" lvl="0" indent="0">
              <a:buNone/>
            </a:pPr>
            <a:r>
              <a:rPr lang="en" dirty="0"/>
              <a:t>Con notificaciones push</a:t>
            </a:r>
          </a:p>
          <a:p>
            <a:pPr marL="0" lvl="0" indent="0">
              <a:buNone/>
            </a:pPr>
            <a:r>
              <a:rPr lang="en" dirty="0"/>
              <a:t>Con un apartado de usuario donde cambiar parametros</a:t>
            </a:r>
          </a:p>
          <a:p>
            <a:pPr marL="0" lvl="0" indent="0">
              <a:buNone/>
            </a:pPr>
            <a:r>
              <a:rPr lang="en" dirty="0"/>
              <a:t>Con una interfaz intuitiva, con estilo definido </a:t>
            </a:r>
          </a:p>
          <a:p>
            <a:pPr marL="0" lvl="0" indent="0">
              <a:buNone/>
            </a:pPr>
            <a:r>
              <a:rPr lang="es-ES" dirty="0"/>
              <a:t>Queremos implementar un muñeco, con un diseño modo Duolingo, para implementar un sistema de “Rachas”</a:t>
            </a:r>
            <a:endParaRPr dirty="0"/>
          </a:p>
        </p:txBody>
      </p:sp>
      <p:pic>
        <p:nvPicPr>
          <p:cNvPr id="5" name="Marcador de posición de 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231F3BA-6F8C-327D-8E84-75987421E98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6633" r="26633"/>
          <a:stretch>
            <a:fillRect/>
          </a:stretch>
        </p:blipFill>
        <p:spPr>
          <a:xfrm>
            <a:off x="324853" y="495789"/>
            <a:ext cx="2092073" cy="3108184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>
            <a:spLocks noGrp="1"/>
          </p:cNvSpPr>
          <p:nvPr>
            <p:ph type="title"/>
          </p:nvPr>
        </p:nvSpPr>
        <p:spPr>
          <a:xfrm>
            <a:off x="3477879" y="911399"/>
            <a:ext cx="5307111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{lo que necesitamos}</a:t>
            </a:r>
            <a:endParaRPr dirty="0"/>
          </a:p>
        </p:txBody>
      </p:sp>
      <p:sp>
        <p:nvSpPr>
          <p:cNvPr id="279" name="Google Shape;279;p36"/>
          <p:cNvSpPr txBox="1">
            <a:spLocks noGrp="1"/>
          </p:cNvSpPr>
          <p:nvPr>
            <p:ph type="subTitle" idx="1"/>
          </p:nvPr>
        </p:nvSpPr>
        <p:spPr>
          <a:xfrm>
            <a:off x="3955899" y="2557175"/>
            <a:ext cx="4351073" cy="11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Diseño basico UI app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Diseño del logo/aprobar el que ya existe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Colores corporativos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Diseño del personaje y de la interfaz de la racha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Diseño notificaciones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 TODO LO QUE ESTEIS DISPUESTOS A APORTAR!</a:t>
            </a:r>
            <a:endParaRPr dirty="0"/>
          </a:p>
        </p:txBody>
      </p:sp>
      <p:cxnSp>
        <p:nvCxnSpPr>
          <p:cNvPr id="280" name="Google Shape;280;p36"/>
          <p:cNvCxnSpPr/>
          <p:nvPr/>
        </p:nvCxnSpPr>
        <p:spPr>
          <a:xfrm rot="10800000">
            <a:off x="-2362200" y="-1625701"/>
            <a:ext cx="0" cy="370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oval" w="med" len="med"/>
            <a:tailEnd type="none" w="med" len="med"/>
          </a:ln>
        </p:spPr>
      </p:cxnSp>
      <p:sp>
        <p:nvSpPr>
          <p:cNvPr id="281" name="Google Shape;281;p36"/>
          <p:cNvSpPr txBox="1">
            <a:spLocks noGrp="1"/>
          </p:cNvSpPr>
          <p:nvPr>
            <p:ph type="ctrTitle" idx="4294967295"/>
          </p:nvPr>
        </p:nvSpPr>
        <p:spPr>
          <a:xfrm>
            <a:off x="342900" y="316684"/>
            <a:ext cx="1296600" cy="21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KEY INSIGHT</a:t>
            </a:r>
            <a:endParaRPr sz="9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cxnSp>
        <p:nvCxnSpPr>
          <p:cNvPr id="282" name="Google Shape;282;p36"/>
          <p:cNvCxnSpPr/>
          <p:nvPr/>
        </p:nvCxnSpPr>
        <p:spPr>
          <a:xfrm>
            <a:off x="2709950" y="3804875"/>
            <a:ext cx="654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oval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228600" y="3776472"/>
            <a:ext cx="8686800" cy="11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PLAZOS</a:t>
            </a:r>
            <a:r>
              <a:rPr lang="en" dirty="0"/>
              <a:t>/</a:t>
            </a:r>
            <a:endParaRPr dirty="0"/>
          </a:p>
        </p:txBody>
      </p:sp>
      <p:sp>
        <p:nvSpPr>
          <p:cNvPr id="305" name="Google Shape;305;p38"/>
          <p:cNvSpPr txBox="1"/>
          <p:nvPr/>
        </p:nvSpPr>
        <p:spPr>
          <a:xfrm>
            <a:off x="248663" y="773826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12 / 02 / 2026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241868" y="1233761"/>
            <a:ext cx="1592761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1er control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8 semanas </a:t>
            </a:r>
          </a:p>
        </p:txBody>
      </p:sp>
      <p:sp>
        <p:nvSpPr>
          <p:cNvPr id="307" name="Google Shape;307;p38"/>
          <p:cNvSpPr txBox="1"/>
          <p:nvPr/>
        </p:nvSpPr>
        <p:spPr>
          <a:xfrm>
            <a:off x="1821988" y="756188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26 / 02 / 2026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08" name="Google Shape;308;p38"/>
          <p:cNvSpPr txBox="1"/>
          <p:nvPr/>
        </p:nvSpPr>
        <p:spPr>
          <a:xfrm>
            <a:off x="1821970" y="1226077"/>
            <a:ext cx="19629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2º Control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6 semanas </a:t>
            </a:r>
          </a:p>
        </p:txBody>
      </p:sp>
      <p:sp>
        <p:nvSpPr>
          <p:cNvPr id="309" name="Google Shape;309;p38"/>
          <p:cNvSpPr txBox="1"/>
          <p:nvPr/>
        </p:nvSpPr>
        <p:spPr>
          <a:xfrm>
            <a:off x="3245931" y="763339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12 / 03 / 2025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3245931" y="1215591"/>
            <a:ext cx="19629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3er Control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4 Semanas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4745666" y="763339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26 / 03 / 2026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4745654" y="1233228"/>
            <a:ext cx="19629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4º Control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2 Semanas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320420" y="221123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rPr>
              <a:t>{01}</a:t>
            </a:r>
            <a:endParaRPr dirty="0">
              <a:solidFill>
                <a:schemeClr val="dk1"/>
              </a:solidFill>
              <a:latin typeface="Cossette Texte"/>
              <a:ea typeface="Cossette Texte"/>
              <a:cs typeface="Cossette Texte"/>
              <a:sym typeface="Cossette Texte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1853229" y="228274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rPr>
              <a:t>{02}</a:t>
            </a:r>
            <a:endParaRPr dirty="0">
              <a:solidFill>
                <a:schemeClr val="dk1"/>
              </a:solidFill>
              <a:latin typeface="Cossette Texte"/>
              <a:ea typeface="Cossette Texte"/>
              <a:cs typeface="Cossette Texte"/>
              <a:sym typeface="Cossette Texte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3245931" y="229940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rPr>
              <a:t>{03}</a:t>
            </a:r>
            <a:endParaRPr dirty="0">
              <a:solidFill>
                <a:schemeClr val="dk1"/>
              </a:solidFill>
              <a:latin typeface="Cossette Texte"/>
              <a:ea typeface="Cossette Texte"/>
              <a:cs typeface="Cossette Texte"/>
              <a:sym typeface="Cossette Texte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4773166" y="222792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rPr>
              <a:t>{04}</a:t>
            </a:r>
            <a:endParaRPr dirty="0">
              <a:solidFill>
                <a:schemeClr val="dk1"/>
              </a:solidFill>
              <a:latin typeface="Cossette Texte"/>
              <a:ea typeface="Cossette Texte"/>
              <a:cs typeface="Cossette Texte"/>
              <a:sym typeface="Cossette Texte"/>
            </a:endParaRPr>
          </a:p>
        </p:txBody>
      </p:sp>
      <p:cxnSp>
        <p:nvCxnSpPr>
          <p:cNvPr id="317" name="Google Shape;317;p38"/>
          <p:cNvCxnSpPr/>
          <p:nvPr/>
        </p:nvCxnSpPr>
        <p:spPr>
          <a:xfrm>
            <a:off x="265420" y="-153943"/>
            <a:ext cx="0" cy="2997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318" name="Google Shape;318;p38"/>
          <p:cNvCxnSpPr/>
          <p:nvPr/>
        </p:nvCxnSpPr>
        <p:spPr>
          <a:xfrm>
            <a:off x="1771383" y="-486293"/>
            <a:ext cx="0" cy="3436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319" name="Google Shape;319;p38"/>
          <p:cNvCxnSpPr/>
          <p:nvPr/>
        </p:nvCxnSpPr>
        <p:spPr>
          <a:xfrm>
            <a:off x="3179268" y="-976543"/>
            <a:ext cx="0" cy="464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320" name="Google Shape;320;p38"/>
          <p:cNvCxnSpPr/>
          <p:nvPr/>
        </p:nvCxnSpPr>
        <p:spPr>
          <a:xfrm>
            <a:off x="4718165" y="-110144"/>
            <a:ext cx="0" cy="4521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2" name="Google Shape;320;p38">
            <a:extLst>
              <a:ext uri="{FF2B5EF4-FFF2-40B4-BE49-F238E27FC236}">
                <a16:creationId xmlns:a16="http://schemas.microsoft.com/office/drawing/2014/main" id="{C03DEF76-96D5-0490-FD26-8AA78FC8EB10}"/>
              </a:ext>
            </a:extLst>
          </p:cNvPr>
          <p:cNvCxnSpPr/>
          <p:nvPr/>
        </p:nvCxnSpPr>
        <p:spPr>
          <a:xfrm>
            <a:off x="6383105" y="-53855"/>
            <a:ext cx="0" cy="4521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3" name="Google Shape;311;p38">
            <a:extLst>
              <a:ext uri="{FF2B5EF4-FFF2-40B4-BE49-F238E27FC236}">
                <a16:creationId xmlns:a16="http://schemas.microsoft.com/office/drawing/2014/main" id="{691AE983-C779-5969-A2CC-D26FFC92CC00}"/>
              </a:ext>
            </a:extLst>
          </p:cNvPr>
          <p:cNvSpPr txBox="1"/>
          <p:nvPr/>
        </p:nvSpPr>
        <p:spPr>
          <a:xfrm>
            <a:off x="6438105" y="756188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2 / 04 /2026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4" name="Google Shape;312;p38">
            <a:extLst>
              <a:ext uri="{FF2B5EF4-FFF2-40B4-BE49-F238E27FC236}">
                <a16:creationId xmlns:a16="http://schemas.microsoft.com/office/drawing/2014/main" id="{01C60AE1-86A1-3D67-7DC0-0DBD507A28FA}"/>
              </a:ext>
            </a:extLst>
          </p:cNvPr>
          <p:cNvSpPr txBox="1"/>
          <p:nvPr/>
        </p:nvSpPr>
        <p:spPr>
          <a:xfrm>
            <a:off x="6419926" y="1239407"/>
            <a:ext cx="2324021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FECHA LIMITE (1 semana antes presentación empresas)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" name="Google Shape;316;p38">
            <a:extLst>
              <a:ext uri="{FF2B5EF4-FFF2-40B4-BE49-F238E27FC236}">
                <a16:creationId xmlns:a16="http://schemas.microsoft.com/office/drawing/2014/main" id="{362A1BC8-DBB9-4D69-2CD9-B2895C882423}"/>
              </a:ext>
            </a:extLst>
          </p:cNvPr>
          <p:cNvSpPr txBox="1"/>
          <p:nvPr/>
        </p:nvSpPr>
        <p:spPr>
          <a:xfrm>
            <a:off x="6438105" y="229781"/>
            <a:ext cx="1962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ssette Texte"/>
                <a:ea typeface="Cossette Texte"/>
                <a:cs typeface="Cossette Texte"/>
                <a:sym typeface="Cossette Texte"/>
              </a:rPr>
              <a:t>{05}</a:t>
            </a:r>
            <a:endParaRPr dirty="0">
              <a:solidFill>
                <a:schemeClr val="dk1"/>
              </a:solidFill>
              <a:latin typeface="Cossette Texte"/>
              <a:ea typeface="Cossette Texte"/>
              <a:cs typeface="Cossette Texte"/>
              <a:sym typeface="Cossette Texte"/>
            </a:endParaRPr>
          </a:p>
        </p:txBody>
      </p:sp>
      <p:sp>
        <p:nvSpPr>
          <p:cNvPr id="6" name="Google Shape;305;p38">
            <a:extLst>
              <a:ext uri="{FF2B5EF4-FFF2-40B4-BE49-F238E27FC236}">
                <a16:creationId xmlns:a16="http://schemas.microsoft.com/office/drawing/2014/main" id="{F4202511-086B-4ADF-FBA8-4136D96A8484}"/>
              </a:ext>
            </a:extLst>
          </p:cNvPr>
          <p:cNvSpPr txBox="1"/>
          <p:nvPr/>
        </p:nvSpPr>
        <p:spPr>
          <a:xfrm>
            <a:off x="228600" y="2075600"/>
            <a:ext cx="1747711" cy="49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Definir las bases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A</a:t>
            </a: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portar nuevas ideas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C</a:t>
            </a:r>
            <a:r>
              <a:rPr lang="en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omprar equipo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7" name="Google Shape;305;p38">
            <a:extLst>
              <a:ext uri="{FF2B5EF4-FFF2-40B4-BE49-F238E27FC236}">
                <a16:creationId xmlns:a16="http://schemas.microsoft.com/office/drawing/2014/main" id="{41EEF690-68B4-3081-B9B1-85743D3CBD8C}"/>
              </a:ext>
            </a:extLst>
          </p:cNvPr>
          <p:cNvSpPr txBox="1"/>
          <p:nvPr/>
        </p:nvSpPr>
        <p:spPr>
          <a:xfrm>
            <a:off x="1737655" y="1689443"/>
            <a:ext cx="1747711" cy="49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Funciones básicas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Aprobar cambios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8" name="Google Shape;305;p38">
            <a:extLst>
              <a:ext uri="{FF2B5EF4-FFF2-40B4-BE49-F238E27FC236}">
                <a16:creationId xmlns:a16="http://schemas.microsoft.com/office/drawing/2014/main" id="{0126BCC9-6FB1-AC25-5EFC-5C1EECAC709E}"/>
              </a:ext>
            </a:extLst>
          </p:cNvPr>
          <p:cNvSpPr txBox="1"/>
          <p:nvPr/>
        </p:nvSpPr>
        <p:spPr>
          <a:xfrm>
            <a:off x="3142423" y="2071660"/>
            <a:ext cx="1747711" cy="49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Funciones avanzadas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Testear funcionamiento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Aprobar cambios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9" name="Google Shape;305;p38">
            <a:extLst>
              <a:ext uri="{FF2B5EF4-FFF2-40B4-BE49-F238E27FC236}">
                <a16:creationId xmlns:a16="http://schemas.microsoft.com/office/drawing/2014/main" id="{74C5BBE6-B40D-188A-9D2B-32BF17229B71}"/>
              </a:ext>
            </a:extLst>
          </p:cNvPr>
          <p:cNvSpPr txBox="1"/>
          <p:nvPr/>
        </p:nvSpPr>
        <p:spPr>
          <a:xfrm>
            <a:off x="6383105" y="1946361"/>
            <a:ext cx="1747711" cy="49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Todo montado y testeado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Definir presentación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2" name="Google Shape;305;p38">
            <a:extLst>
              <a:ext uri="{FF2B5EF4-FFF2-40B4-BE49-F238E27FC236}">
                <a16:creationId xmlns:a16="http://schemas.microsoft.com/office/drawing/2014/main" id="{20E40E07-4EED-C0DD-F448-C0775FCD9DD2}"/>
              </a:ext>
            </a:extLst>
          </p:cNvPr>
          <p:cNvSpPr txBox="1"/>
          <p:nvPr/>
        </p:nvSpPr>
        <p:spPr>
          <a:xfrm>
            <a:off x="4717569" y="2442511"/>
            <a:ext cx="1747711" cy="49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Finalizar montaje y desarrollo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Probar absolutamente todo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Corrección últimos errores</a:t>
            </a:r>
            <a:endParaRPr sz="1200" dirty="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8C84389-D4D3-91DE-72DB-F84A85EF72EF}"/>
              </a:ext>
            </a:extLst>
          </p:cNvPr>
          <p:cNvSpPr txBox="1"/>
          <p:nvPr/>
        </p:nvSpPr>
        <p:spPr>
          <a:xfrm>
            <a:off x="488950" y="538262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500" dirty="0">
                <a:solidFill>
                  <a:schemeClr val="dk1"/>
                </a:solidFill>
                <a:latin typeface="Cossette Texte"/>
                <a:sym typeface="Cossette Texte"/>
              </a:rPr>
              <a:t>GRACIAS/</a:t>
            </a:r>
            <a:r>
              <a:rPr lang="en" dirty="0"/>
              <a:t>/</a:t>
            </a:r>
            <a:endParaRPr lang="es-ES" dirty="0"/>
          </a:p>
        </p:txBody>
      </p:sp>
      <p:sp>
        <p:nvSpPr>
          <p:cNvPr id="7" name="Google Shape;340;p40">
            <a:extLst>
              <a:ext uri="{FF2B5EF4-FFF2-40B4-BE49-F238E27FC236}">
                <a16:creationId xmlns:a16="http://schemas.microsoft.com/office/drawing/2014/main" id="{994BE52D-E378-297A-B5A3-6B172501BD36}"/>
              </a:ext>
            </a:extLst>
          </p:cNvPr>
          <p:cNvSpPr txBox="1">
            <a:spLocks/>
          </p:cNvSpPr>
          <p:nvPr/>
        </p:nvSpPr>
        <p:spPr>
          <a:xfrm>
            <a:off x="4636000" y="192835"/>
            <a:ext cx="42195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b="1" dirty="0">
                <a:solidFill>
                  <a:schemeClr val="tx1"/>
                </a:solidFill>
              </a:rPr>
              <a:t>¿Quieres ver como avanza el proyecto?</a:t>
            </a:r>
          </a:p>
          <a:p>
            <a:r>
              <a:rPr lang="es-ES" dirty="0">
                <a:hlinkClick r:id="rId2"/>
              </a:rPr>
              <a:t>https://github.com/Serious-Games-V-UFV/SERIOUS-GAMES-V-UFV</a:t>
            </a:r>
            <a:endParaRPr lang="es-ES" dirty="0"/>
          </a:p>
          <a:p>
            <a:endParaRPr lang="es-ES" dirty="0"/>
          </a:p>
        </p:txBody>
      </p:sp>
      <p:pic>
        <p:nvPicPr>
          <p:cNvPr id="8" name="Imagen 7" descr="Código QR&#10;&#10;El contenido generado por IA puede ser incorrecto.">
            <a:extLst>
              <a:ext uri="{FF2B5EF4-FFF2-40B4-BE49-F238E27FC236}">
                <a16:creationId xmlns:a16="http://schemas.microsoft.com/office/drawing/2014/main" id="{A419BFD7-6495-9CB8-03B1-E87CA115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563" y="1196155"/>
            <a:ext cx="10477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33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EFEFEF"/>
      </a:dk1>
      <a:lt1>
        <a:srgbClr val="0A0A0A"/>
      </a:lt1>
      <a:dk2>
        <a:srgbClr val="8B8B8B"/>
      </a:dk2>
      <a:lt2>
        <a:srgbClr val="484A4B"/>
      </a:lt2>
      <a:accent1>
        <a:srgbClr val="B3B3B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282</Words>
  <Application>Microsoft Office PowerPoint</Application>
  <PresentationFormat>Presentación en pantalla (16:9)</PresentationFormat>
  <Paragraphs>69</Paragraphs>
  <Slides>11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Open Sans Light</vt:lpstr>
      <vt:lpstr>Inter Tight</vt:lpstr>
      <vt:lpstr>Nunito Light</vt:lpstr>
      <vt:lpstr>Arial</vt:lpstr>
      <vt:lpstr>Inter Tight SemiBold</vt:lpstr>
      <vt:lpstr>Cossette Texte</vt:lpstr>
      <vt:lpstr>Project Roadmaps by Slidesgo</vt:lpstr>
      <vt:lpstr>Serious Games / Informática</vt:lpstr>
      <vt:lpstr>TABLE OF CONTENTS/</vt:lpstr>
      <vt:lpstr>QUE HEMOS HECHO/</vt:lpstr>
      <vt:lpstr>Actualmente hemos hecho los siguientes avances</vt:lpstr>
      <vt:lpstr>https://www.anogales.es/seriousgames </vt:lpstr>
      <vt:lpstr>Presentación de PowerPoint</vt:lpstr>
      <vt:lpstr>QUE VAMOS  A HACER/</vt:lpstr>
      <vt:lpstr>Implementaciones principales/</vt:lpstr>
      <vt:lpstr>{lo que necesitamos}</vt:lpstr>
      <vt:lpstr>PLAZOS/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Javier Cervera Rodríguez</cp:lastModifiedBy>
  <cp:revision>3</cp:revision>
  <dcterms:modified xsi:type="dcterms:W3CDTF">2026-01-27T13:13:04Z</dcterms:modified>
</cp:coreProperties>
</file>